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Source Code Pro Light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Source Code Pr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  <p:embeddedFont>
      <p:font typeface="Source Code Pro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Light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bold.fntdata"/><Relationship Id="rId25" Type="http://schemas.openxmlformats.org/officeDocument/2006/relationships/font" Target="fonts/SourceCodePro-regular.fntdata"/><Relationship Id="rId28" Type="http://schemas.openxmlformats.org/officeDocument/2006/relationships/font" Target="fonts/SourceCodePro-boldItalic.fntdata"/><Relationship Id="rId27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33" Type="http://schemas.openxmlformats.org/officeDocument/2006/relationships/font" Target="fonts/SourceCodeProMedium-regular.fntdata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35" Type="http://schemas.openxmlformats.org/officeDocument/2006/relationships/font" Target="fonts/SourceCodeProMedium-italic.fntdata"/><Relationship Id="rId12" Type="http://schemas.openxmlformats.org/officeDocument/2006/relationships/slide" Target="slides/slide7.xml"/><Relationship Id="rId34" Type="http://schemas.openxmlformats.org/officeDocument/2006/relationships/font" Target="fonts/SourceCodePro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SourceCodeProMedium-boldItalic.fntdata"/><Relationship Id="rId17" Type="http://schemas.openxmlformats.org/officeDocument/2006/relationships/font" Target="fonts/SourceCodeProLight-regular.fntdata"/><Relationship Id="rId16" Type="http://schemas.openxmlformats.org/officeDocument/2006/relationships/slide" Target="slides/slide11.xml"/><Relationship Id="rId19" Type="http://schemas.openxmlformats.org/officeDocument/2006/relationships/font" Target="fonts/SourceCodeProLight-italic.fntdata"/><Relationship Id="rId18" Type="http://schemas.openxmlformats.org/officeDocument/2006/relationships/font" Target="fonts/SourceCodePro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c0eaf6296_0_3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c0eaf6296_0_3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c0eaf6296_0_3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c0eaf6296_0_3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0eaf6296_0_3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0eaf6296_0_3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c0eaf6296_0_3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c0eaf6296_0_3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c0eaf6296_0_3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c0eaf6296_0_3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c0eaf6296_0_3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c0eaf6296_0_3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0eaf6296_0_3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0eaf6296_0_3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c0eaf6296_0_3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c0eaf6296_0_3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c0eaf6296_0_3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c0eaf6296_0_3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c0eaf6296_0_3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c0eaf6296_0_3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76900" y="1230600"/>
            <a:ext cx="8520600" cy="30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202124"/>
                </a:solidFill>
                <a:highlight>
                  <a:srgbClr val="FFFFFF"/>
                </a:highlight>
              </a:rPr>
              <a:t>INVENTORY MANAGEMENT ANALYS</a:t>
            </a:r>
            <a:r>
              <a:rPr b="1" lang="en" sz="3500">
                <a:solidFill>
                  <a:srgbClr val="202124"/>
                </a:solidFill>
                <a:highlight>
                  <a:srgbClr val="FFFFFF"/>
                </a:highlight>
              </a:rPr>
              <a:t>IS</a:t>
            </a:r>
            <a:endParaRPr b="1" sz="35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By: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Nagesha S</a:t>
            </a:r>
            <a:endParaRPr b="1"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Perform </a:t>
            </a:r>
            <a:r>
              <a:rPr b="1" lang="en" sz="1100">
                <a:solidFill>
                  <a:schemeClr val="dk1"/>
                </a:solidFill>
              </a:rPr>
              <a:t>SQL-based data analysis</a:t>
            </a:r>
            <a:r>
              <a:rPr lang="en" sz="1100">
                <a:solidFill>
                  <a:schemeClr val="dk1"/>
                </a:solidFill>
              </a:rPr>
              <a:t> on an inventory management system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Demonstrate proficiency in: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cleaning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Aggregation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Joins, Subqueries, and CTEs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Window functions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Derive insights for business intelligence and inventory optimization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Dataset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Source:</a:t>
            </a:r>
            <a:r>
              <a:rPr lang="en" sz="1100">
                <a:solidFill>
                  <a:schemeClr val="dk1"/>
                </a:solidFill>
              </a:rPr>
              <a:t> Kaggle – </a:t>
            </a:r>
            <a:r>
              <a:rPr i="1" lang="en" sz="1100">
                <a:solidFill>
                  <a:schemeClr val="dk1"/>
                </a:solidFill>
              </a:rPr>
              <a:t>Inventory Management Analysis (SQL-Based Project)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Dataset Features:</a:t>
            </a:r>
            <a:endParaRPr b="1" sz="1200">
              <a:solidFill>
                <a:srgbClr val="2021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Inter"/>
              <a:buChar char="●"/>
            </a:pPr>
            <a:r>
              <a:rPr b="1"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Product.csv</a:t>
            </a:r>
            <a:r>
              <a:rPr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: Includes product names, categories, standard costs, and list prices.</a:t>
            </a:r>
            <a:endParaRPr sz="10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Inter"/>
              <a:buChar char="●"/>
            </a:pPr>
            <a:r>
              <a:rPr b="1"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Orders.csv</a:t>
            </a:r>
            <a:r>
              <a:rPr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: Contains order details such as quantities, unit prices, and order statuses.</a:t>
            </a:r>
            <a:endParaRPr sz="10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Inter"/>
              <a:buChar char="●"/>
            </a:pPr>
            <a:r>
              <a:rPr b="1"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Customer.csv</a:t>
            </a:r>
            <a:r>
              <a:rPr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: Customer information, including names, contact details, and credit limits.</a:t>
            </a:r>
            <a:endParaRPr sz="10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Inter"/>
              <a:buChar char="●"/>
            </a:pPr>
            <a:r>
              <a:rPr b="1"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Warehouse.csv</a:t>
            </a:r>
            <a:r>
              <a:rPr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: Data on warehouse locations and inventory distribution.</a:t>
            </a:r>
            <a:endParaRPr sz="10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Inter"/>
              <a:buChar char="●"/>
            </a:pPr>
            <a:r>
              <a:rPr b="1"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Employee.csv</a:t>
            </a:r>
            <a:r>
              <a:rPr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: Employee records linked to warehouse operations.</a:t>
            </a:r>
            <a:endParaRPr sz="10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Inter"/>
              <a:buChar char="●"/>
            </a:pPr>
            <a:r>
              <a:rPr b="1"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Region.csv</a:t>
            </a:r>
            <a:r>
              <a:rPr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: Geographic data, including country, state, city, and postal codes.</a:t>
            </a:r>
            <a:endParaRPr sz="1050">
              <a:solidFill>
                <a:srgbClr val="3C40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050"/>
              <a:buFont typeface="Inter"/>
              <a:buChar char="●"/>
            </a:pPr>
            <a:r>
              <a:rPr b="1"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OrderDetails.csv</a:t>
            </a:r>
            <a:r>
              <a:rPr lang="en" sz="1050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: Transaction-level data connecting products and orders, detailing sales volume and revenue.</a:t>
            </a:r>
            <a:endParaRPr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28000" y="457800"/>
            <a:ext cx="360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 Design</a:t>
            </a:r>
            <a:endParaRPr/>
          </a:p>
        </p:txBody>
      </p:sp>
      <p:pic>
        <p:nvPicPr>
          <p:cNvPr id="72" name="Google Shape;72;p16" title="ER_Diagram_N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975" y="523000"/>
            <a:ext cx="4943550" cy="43094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293375" y="1996675"/>
            <a:ext cx="3608400" cy="19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Relationships: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Orders link Customers and OrderDetails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Products linked via OrderDetails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Warehouses mapped to Regions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Import &amp; Setup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450675"/>
            <a:ext cx="4487100" cy="25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81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5"/>
              <a:buChar char="●"/>
            </a:pPr>
            <a:r>
              <a:rPr lang="en" sz="1405">
                <a:solidFill>
                  <a:schemeClr val="dk1"/>
                </a:solidFill>
              </a:rPr>
              <a:t>Created schema: </a:t>
            </a:r>
            <a:r>
              <a:rPr lang="en" sz="140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inventory_db</a:t>
            </a:r>
            <a:br>
              <a:rPr lang="en" sz="140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40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5"/>
              <a:buChar char="●"/>
            </a:pPr>
            <a:r>
              <a:rPr lang="en" sz="1405">
                <a:solidFill>
                  <a:schemeClr val="dk1"/>
                </a:solidFill>
              </a:rPr>
              <a:t>Imported 7 CSVs using </a:t>
            </a:r>
            <a:r>
              <a:rPr lang="en" sz="140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LOAD DATA LOCAL INFILE</a:t>
            </a:r>
            <a:br>
              <a:rPr lang="en" sz="140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40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5"/>
              <a:buChar char="●"/>
            </a:pPr>
            <a:r>
              <a:rPr lang="en" sz="1405">
                <a:solidFill>
                  <a:schemeClr val="dk1"/>
                </a:solidFill>
              </a:rPr>
              <a:t>Ensured referential integrity with </a:t>
            </a:r>
            <a:r>
              <a:rPr lang="en" sz="140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FOREIGN KEYS</a:t>
            </a:r>
            <a:br>
              <a:rPr lang="en" sz="140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40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81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5"/>
              <a:buChar char="●"/>
            </a:pPr>
            <a:r>
              <a:rPr lang="en" sz="1405">
                <a:solidFill>
                  <a:schemeClr val="dk1"/>
                </a:solidFill>
              </a:rPr>
              <a:t>Verified using </a:t>
            </a:r>
            <a:r>
              <a:rPr lang="en" sz="140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DESCRIBE</a:t>
            </a:r>
            <a:r>
              <a:rPr lang="en" sz="1405">
                <a:solidFill>
                  <a:schemeClr val="dk1"/>
                </a:solidFill>
              </a:rPr>
              <a:t> and </a:t>
            </a:r>
            <a:r>
              <a:rPr lang="en" sz="140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SHOW TABLES</a:t>
            </a:r>
            <a:endParaRPr sz="1190"/>
          </a:p>
        </p:txBody>
      </p:sp>
      <p:sp>
        <p:nvSpPr>
          <p:cNvPr id="80" name="Google Shape;80;p17"/>
          <p:cNvSpPr/>
          <p:nvPr/>
        </p:nvSpPr>
        <p:spPr>
          <a:xfrm>
            <a:off x="5047500" y="1338675"/>
            <a:ext cx="3633900" cy="2622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</a:rPr>
              <a:t>Sample Code Snippet: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ource Code Pro Light"/>
                <a:ea typeface="Source Code Pro Light"/>
                <a:cs typeface="Source Code Pro Light"/>
                <a:sym typeface="Source Code Pro Light"/>
              </a:rPr>
              <a:t>CREATE DATABASE IF NOT EXISTS inventory_db;</a:t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ource Code Pro Light"/>
                <a:ea typeface="Source Code Pro Light"/>
                <a:cs typeface="Source Code Pro Light"/>
                <a:sym typeface="Source Code Pro Light"/>
              </a:rPr>
              <a:t>USE inventory_db;</a:t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ource Code Pro Light"/>
                <a:ea typeface="Source Code Pro Light"/>
                <a:cs typeface="Source Code Pro Light"/>
                <a:sym typeface="Source Code Pro Light"/>
              </a:rPr>
              <a:t>LOAD DATA LOCAL INFILE 'data/Customer.csv'</a:t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ource Code Pro Light"/>
                <a:ea typeface="Source Code Pro Light"/>
                <a:cs typeface="Source Code Pro Light"/>
                <a:sym typeface="Source Code Pro Light"/>
              </a:rPr>
              <a:t>INTO TABLE Customer</a:t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ource Code Pro Light"/>
                <a:ea typeface="Source Code Pro Light"/>
                <a:cs typeface="Source Code Pro Light"/>
                <a:sym typeface="Source Code Pro Light"/>
              </a:rPr>
              <a:t>FIELDS TERMINATED BY ','</a:t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ource Code Pro Light"/>
                <a:ea typeface="Source Code Pro Light"/>
                <a:cs typeface="Source Code Pro Light"/>
                <a:sym typeface="Source Code Pro Light"/>
              </a:rPr>
              <a:t>IGNORE 1 ROWS;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Statistics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Findings:</a:t>
            </a:r>
            <a:endParaRPr b="1"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Total Customers: </a:t>
            </a:r>
            <a:r>
              <a:rPr b="1" lang="en" sz="1400">
                <a:solidFill>
                  <a:schemeClr val="dk1"/>
                </a:solidFill>
              </a:rPr>
              <a:t>400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Total Revenue: </a:t>
            </a:r>
            <a:r>
              <a:rPr b="1" lang="en" sz="1400">
                <a:solidFill>
                  <a:schemeClr val="dk1"/>
                </a:solidFill>
              </a:rPr>
              <a:t>₹30520090.71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400">
                <a:solidFill>
                  <a:schemeClr val="dk1"/>
                </a:solidFill>
              </a:rPr>
              <a:t>Average Product Price: </a:t>
            </a:r>
            <a:r>
              <a:rPr b="1" lang="en" sz="1400">
                <a:solidFill>
                  <a:schemeClr val="dk1"/>
                </a:solidFill>
              </a:rPr>
              <a:t>₹2002.398800 (per total Products 400)</a:t>
            </a:r>
            <a:endParaRPr b="1" sz="2100"/>
          </a:p>
        </p:txBody>
      </p:sp>
      <p:sp>
        <p:nvSpPr>
          <p:cNvPr id="87" name="Google Shape;87;p18"/>
          <p:cNvSpPr/>
          <p:nvPr/>
        </p:nvSpPr>
        <p:spPr>
          <a:xfrm>
            <a:off x="399325" y="1152475"/>
            <a:ext cx="8288400" cy="169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SELECT COUNT(*) AS total_customers FROM Customer;</a:t>
            </a:r>
            <a:endParaRPr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SELECT SUM(OrderItemQuantity * PerUnitPrice) AS total_revenue FROM OrderDetails;</a:t>
            </a:r>
            <a:endParaRPr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SELECT COUNT(*) AS total_products, AVG(ProductListPrice) AS avg_price FROM Product;</a:t>
            </a:r>
            <a:endParaRPr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&amp; Grouping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4474225" y="1960075"/>
            <a:ext cx="4260300" cy="9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Insights: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Top Categories: Storage, Video Card</a:t>
            </a:r>
            <a:endParaRPr sz="2200"/>
          </a:p>
        </p:txBody>
      </p:sp>
      <p:sp>
        <p:nvSpPr>
          <p:cNvPr id="94" name="Google Shape;94;p19"/>
          <p:cNvSpPr/>
          <p:nvPr/>
        </p:nvSpPr>
        <p:spPr>
          <a:xfrm>
            <a:off x="480850" y="1960075"/>
            <a:ext cx="3447300" cy="180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SELECT CategoryName, 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      SUM(OrderItemQuantity * PerUnitPrice) AS total_sales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FROM OrderDetails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JOIN Product USING(ProductID)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GROUP BY CategoryName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ORDER BY total_sales DESC;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95" name="Google Shape;95;p19" title="Screenshot 2025-10-13 at 2.26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350" y="2950075"/>
            <a:ext cx="2486025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Subqueries &amp; CTEs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5533675" y="1279500"/>
            <a:ext cx="3298500" cy="32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Result:</a:t>
            </a:r>
            <a:endParaRPr b="1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Month with highest total sales identified for trend analysis is </a:t>
            </a:r>
            <a:r>
              <a:rPr b="1" lang="en" sz="1300">
                <a:solidFill>
                  <a:schemeClr val="dk1"/>
                </a:solidFill>
              </a:rPr>
              <a:t>2017-02 </a:t>
            </a:r>
            <a:r>
              <a:rPr lang="en" sz="1300">
                <a:solidFill>
                  <a:schemeClr val="dk1"/>
                </a:solidFill>
              </a:rPr>
              <a:t>with total sales </a:t>
            </a:r>
            <a:r>
              <a:rPr b="1" lang="en" sz="1300">
                <a:solidFill>
                  <a:schemeClr val="dk1"/>
                </a:solidFill>
              </a:rPr>
              <a:t>4573355.78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311700" y="1426200"/>
            <a:ext cx="4971300" cy="300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WITH MonthlySales AS (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SELECT DATE_FORMAT(OrderDate, '%Y-%m') AS month,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     SUM(OrderItemQuantity * PerUnitPrice) AS total_sales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FROM Orders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JOIN OrderDetails USING(OrderID)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GROUP BY month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SELECT month, total_sales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FROM MonthlySales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ORDER BY total_sales DESC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LIMIT 5;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3" name="Google Shape;103;p20" title="Screenshot 2025-10-13 at 2.32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2238" y="2773550"/>
            <a:ext cx="1914525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 Functions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5289175" y="814975"/>
            <a:ext cx="3543000" cy="19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Insights:</a:t>
            </a:r>
            <a:endParaRPr b="1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Displays running total of revenue — useful for tracking cumulative growth.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2017-11 </a:t>
            </a:r>
            <a:r>
              <a:rPr lang="en" sz="1300">
                <a:solidFill>
                  <a:schemeClr val="dk1"/>
                </a:solidFill>
              </a:rPr>
              <a:t>shows highest running total (</a:t>
            </a:r>
            <a:r>
              <a:rPr b="1" lang="en" sz="1300">
                <a:solidFill>
                  <a:schemeClr val="dk1"/>
                </a:solidFill>
              </a:rPr>
              <a:t>30520090.71</a:t>
            </a:r>
            <a:r>
              <a:rPr lang="en" sz="1300">
                <a:solidFill>
                  <a:schemeClr val="dk1"/>
                </a:solidFill>
              </a:rPr>
              <a:t>) along with total sales(</a:t>
            </a:r>
            <a:r>
              <a:rPr b="1" lang="en" sz="1300">
                <a:solidFill>
                  <a:schemeClr val="dk1"/>
                </a:solidFill>
              </a:rPr>
              <a:t>393060.55</a:t>
            </a:r>
            <a:r>
              <a:rPr lang="en" sz="1300">
                <a:solidFill>
                  <a:schemeClr val="dk1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2013-06 </a:t>
            </a:r>
            <a:r>
              <a:rPr lang="en" sz="1300">
                <a:solidFill>
                  <a:schemeClr val="dk1"/>
                </a:solidFill>
              </a:rPr>
              <a:t>s</a:t>
            </a:r>
            <a:r>
              <a:rPr lang="en" sz="1300">
                <a:solidFill>
                  <a:schemeClr val="dk1"/>
                </a:solidFill>
              </a:rPr>
              <a:t>hows lowest running total.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11700" y="1373425"/>
            <a:ext cx="4733100" cy="31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WITH MonthlySales AS (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SELECT DATE_FORMAT(OrderDate, '%Y-%m') AS month,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     SUM(OrderItemQuantity * PerUnitPrice) AS total_sales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FROM Orders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JOIN OrderDetails USING(OrderID)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GROUP BY month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SELECT month, total_sales,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      SUM(total_sales) OVER (ORDER BY month) AS running_total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FROM MonthlySales;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11" name="Google Shape;111;p21" title="Screenshot 2025-10-13 at 2.39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800" y="2882450"/>
            <a:ext cx="31051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&amp; Conclusion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60600" y="1206150"/>
            <a:ext cx="8520600" cy="35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Key Findings: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Top-performing product categories &amp; regions identified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Monthly revenue growth and trends visualized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cleanliness and constraints validated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Demonstrated use of CTEs, Subqueries, and Window Functions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Future Enhancements: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Integrate Power BI or Tableau for visualization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Automate ETL and reporting pipelines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351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